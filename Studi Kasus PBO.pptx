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43" d="100"/>
          <a:sy n="43" d="100"/>
        </p:scale>
        <p:origin x="65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96DFF08F-DC6B-4601-B491-B0F83F6DD2DA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dirty="0"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96DFF08F-DC6B-4601-B491-B0F83F6DD2DA}" type="datetimeFigureOut">
              <a:rPr lang="en-US" dirty="0"/>
              <a:pPr/>
              <a:t>5/7/2026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345E-547D-D0E6-50BB-007011D1C8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D" dirty="0"/>
              <a:t>Studi Kasus </a:t>
            </a:r>
            <a:r>
              <a:rPr lang="en-ID" dirty="0" err="1"/>
              <a:t>Pemrograman</a:t>
            </a:r>
            <a:r>
              <a:rPr lang="en-ID" dirty="0"/>
              <a:t> </a:t>
            </a:r>
            <a:r>
              <a:rPr lang="en-ID" dirty="0" err="1"/>
              <a:t>Berorientasi</a:t>
            </a:r>
            <a:r>
              <a:rPr lang="en-ID" dirty="0"/>
              <a:t> </a:t>
            </a:r>
            <a:r>
              <a:rPr lang="en-ID" dirty="0" err="1"/>
              <a:t>Objek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9EAE5D-2344-8792-E2A6-75F705796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0599" y="4960137"/>
            <a:ext cx="3396521" cy="1463040"/>
          </a:xfrm>
        </p:spPr>
        <p:txBody>
          <a:bodyPr/>
          <a:lstStyle/>
          <a:p>
            <a:r>
              <a:rPr lang="en-US" dirty="0"/>
              <a:t>Nuri </a:t>
            </a:r>
            <a:r>
              <a:rPr lang="en-US" dirty="0" err="1"/>
              <a:t>Sutiyaningsih</a:t>
            </a:r>
            <a:r>
              <a:rPr lang="en-US" dirty="0"/>
              <a:t>. </a:t>
            </a:r>
            <a:r>
              <a:rPr lang="en-US" dirty="0" err="1"/>
              <a:t>S.Kom</a:t>
            </a:r>
            <a:r>
              <a:rPr lang="en-US" dirty="0"/>
              <a:t>., </a:t>
            </a:r>
            <a:r>
              <a:rPr lang="en-US" dirty="0" err="1"/>
              <a:t>M.Kom</a:t>
            </a:r>
            <a:r>
              <a:rPr lang="en-US" dirty="0"/>
              <a:t>.</a:t>
            </a:r>
          </a:p>
          <a:p>
            <a:r>
              <a:rPr lang="en-US" dirty="0"/>
              <a:t>XI RPL 2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2823823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1214-156D-897D-4454-27210DF10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Class dan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F3F76-ABBE-3975-0B91-90FA7EFD8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Di </a:t>
            </a:r>
            <a:r>
              <a:rPr lang="en-ID" dirty="0" err="1"/>
              <a:t>sekolah</a:t>
            </a:r>
            <a:r>
              <a:rPr lang="en-ID" dirty="0"/>
              <a:t> 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banyak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.</a:t>
            </a:r>
            <a:br>
              <a:rPr lang="en-ID" dirty="0"/>
            </a:b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memiliki</a:t>
            </a:r>
            <a:r>
              <a:rPr lang="en-ID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nama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NIS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Jurusan</a:t>
            </a:r>
            <a:endParaRPr lang="en-ID" dirty="0"/>
          </a:p>
          <a:p>
            <a:pPr marL="0" indent="0">
              <a:buNone/>
            </a:pPr>
            <a:endParaRPr lang="en-ID" dirty="0"/>
          </a:p>
          <a:p>
            <a:r>
              <a:rPr lang="en-ID" dirty="0"/>
              <a:t>Dan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menampilkan</a:t>
            </a:r>
            <a:r>
              <a:rPr lang="en-ID" dirty="0"/>
              <a:t> data </a:t>
            </a:r>
            <a:r>
              <a:rPr lang="en-ID" dirty="0" err="1"/>
              <a:t>dirinya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24130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A9B12-3D5F-84CB-F98C-151C93B6A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F1C56-6061-F77E-E0F4-A9008C945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Class dan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25FC4-E566-5684-C8F1-695EE9FA9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Konsep</a:t>
            </a:r>
            <a:r>
              <a:rPr lang="en-ID" dirty="0"/>
              <a:t> PBO 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Class = </a:t>
            </a:r>
            <a:r>
              <a:rPr lang="en-ID" dirty="0" err="1"/>
              <a:t>konsep</a:t>
            </a:r>
            <a:r>
              <a:rPr lang="en-ID" dirty="0"/>
              <a:t> </a:t>
            </a:r>
            <a:r>
              <a:rPr lang="en-ID" dirty="0" err="1"/>
              <a:t>Siswa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Object =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nyata</a:t>
            </a:r>
            <a:r>
              <a:rPr lang="en-ID" dirty="0"/>
              <a:t> (Felix, Faiz, Satya, </a:t>
            </a:r>
            <a:r>
              <a:rPr lang="en-ID" dirty="0" err="1"/>
              <a:t>dll</a:t>
            </a:r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24971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63374-17D3-25E5-13DB-B9849BF2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Class dan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82AFF-0945-68A8-0F76-FC4C6745A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5071872" cy="4023360"/>
          </a:xfrm>
        </p:spPr>
        <p:txBody>
          <a:bodyPr>
            <a:normAutofit fontScale="77500" lnSpcReduction="20000"/>
          </a:bodyPr>
          <a:lstStyle/>
          <a:p>
            <a:r>
              <a:rPr lang="en-ID" dirty="0"/>
              <a:t>class </a:t>
            </a:r>
            <a:r>
              <a:rPr lang="en-ID" dirty="0" err="1"/>
              <a:t>Siswa</a:t>
            </a:r>
            <a:r>
              <a:rPr lang="en-ID" dirty="0"/>
              <a:t> {</a:t>
            </a:r>
          </a:p>
          <a:p>
            <a:r>
              <a:rPr lang="en-ID" dirty="0"/>
              <a:t>    String nama;</a:t>
            </a:r>
          </a:p>
          <a:p>
            <a:r>
              <a:rPr lang="en-ID" dirty="0"/>
              <a:t>    String nis;</a:t>
            </a:r>
          </a:p>
          <a:p>
            <a:r>
              <a:rPr lang="en-ID" dirty="0"/>
              <a:t>    String </a:t>
            </a:r>
            <a:r>
              <a:rPr lang="en-ID" dirty="0" err="1"/>
              <a:t>jurusan</a:t>
            </a:r>
            <a:r>
              <a:rPr lang="en-ID" dirty="0"/>
              <a:t>;</a:t>
            </a:r>
          </a:p>
          <a:p>
            <a:endParaRPr lang="en-ID" dirty="0"/>
          </a:p>
          <a:p>
            <a:r>
              <a:rPr lang="en-ID" dirty="0"/>
              <a:t>    void </a:t>
            </a:r>
            <a:r>
              <a:rPr lang="en-ID" dirty="0" err="1"/>
              <a:t>tampilData</a:t>
            </a:r>
            <a:r>
              <a:rPr lang="en-ID" dirty="0"/>
              <a:t>() 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("Nama    : " + nama);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("NIS     : " + nis);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</a:t>
            </a:r>
            <a:r>
              <a:rPr lang="en-ID" dirty="0" err="1"/>
              <a:t>Jurusan</a:t>
            </a:r>
            <a:r>
              <a:rPr lang="en-ID" dirty="0"/>
              <a:t> : " + </a:t>
            </a:r>
            <a:r>
              <a:rPr lang="en-ID" dirty="0" err="1"/>
              <a:t>jurusan</a:t>
            </a:r>
            <a:r>
              <a:rPr lang="en-ID" dirty="0"/>
              <a:t>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  <a:p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A22E415-F0FB-412D-7408-22F5A27C8672}"/>
              </a:ext>
            </a:extLst>
          </p:cNvPr>
          <p:cNvSpPr txBox="1">
            <a:spLocks/>
          </p:cNvSpPr>
          <p:nvPr/>
        </p:nvSpPr>
        <p:spPr>
          <a:xfrm>
            <a:off x="6096000" y="2286000"/>
            <a:ext cx="5071872" cy="4023360"/>
          </a:xfrm>
          <a:prstGeom prst="rect">
            <a:avLst/>
          </a:prstGeom>
        </p:spPr>
        <p:txBody>
          <a:bodyPr vert="horz" lIns="45720" tIns="45720" rIns="4572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D" dirty="0"/>
              <a:t>public class Main {</a:t>
            </a:r>
          </a:p>
          <a:p>
            <a:r>
              <a:rPr lang="en-ID" dirty="0"/>
              <a:t>    public static void main(String[] </a:t>
            </a:r>
            <a:r>
              <a:rPr lang="en-ID" dirty="0" err="1"/>
              <a:t>args</a:t>
            </a:r>
            <a:r>
              <a:rPr lang="en-ID" dirty="0"/>
              <a:t>) {</a:t>
            </a:r>
          </a:p>
          <a:p>
            <a:r>
              <a:rPr lang="en-ID" dirty="0"/>
              <a:t>        </a:t>
            </a:r>
            <a:r>
              <a:rPr lang="en-ID" dirty="0" err="1"/>
              <a:t>Siswa</a:t>
            </a:r>
            <a:r>
              <a:rPr lang="en-ID" dirty="0"/>
              <a:t> s1 = new </a:t>
            </a:r>
            <a:r>
              <a:rPr lang="en-ID" dirty="0" err="1"/>
              <a:t>Siswa</a:t>
            </a:r>
            <a:r>
              <a:rPr lang="en-ID" dirty="0"/>
              <a:t>();</a:t>
            </a:r>
          </a:p>
          <a:p>
            <a:r>
              <a:rPr lang="en-ID" dirty="0"/>
              <a:t>        s1.nama = "Andi";</a:t>
            </a:r>
          </a:p>
          <a:p>
            <a:r>
              <a:rPr lang="en-ID" dirty="0"/>
              <a:t>        s1.nis = "12345";</a:t>
            </a:r>
          </a:p>
          <a:p>
            <a:r>
              <a:rPr lang="en-ID" dirty="0"/>
              <a:t>        s1.jurusan = "RPL";</a:t>
            </a:r>
          </a:p>
          <a:p>
            <a:endParaRPr lang="en-ID" dirty="0"/>
          </a:p>
          <a:p>
            <a:r>
              <a:rPr lang="en-ID" dirty="0"/>
              <a:t>        s1.tampilData();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1049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E020-7B20-84CF-F017-D4FFC0444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55AAD-F57A-FD97-5717-BF8217247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2E066-BE5B-83E1-1AA9-31A007128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D" dirty="0"/>
              <a:t>Saat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baru</a:t>
            </a:r>
            <a:r>
              <a:rPr lang="en-ID" dirty="0"/>
              <a:t> </a:t>
            </a:r>
            <a:r>
              <a:rPr lang="en-ID" dirty="0" err="1"/>
              <a:t>masuk</a:t>
            </a:r>
            <a:r>
              <a:rPr lang="en-ID" dirty="0"/>
              <a:t> </a:t>
            </a:r>
            <a:r>
              <a:rPr lang="en-ID" dirty="0" err="1"/>
              <a:t>sekolah</a:t>
            </a:r>
            <a:r>
              <a:rPr lang="en-ID" dirty="0"/>
              <a:t>, data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langsung</a:t>
            </a:r>
            <a:r>
              <a:rPr lang="en-ID" dirty="0"/>
              <a:t> </a:t>
            </a:r>
            <a:r>
              <a:rPr lang="en-ID" dirty="0" err="1"/>
              <a:t>lengkap</a:t>
            </a:r>
            <a:r>
              <a:rPr lang="en-ID" dirty="0"/>
              <a:t>,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kosong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50599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C218A-2E29-52FF-77F1-1CD91EDDF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5377-C36B-A4DA-FFCE-68E6D5355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238A76-0F0A-D9C0-DEE1-57C1D527F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Konsep</a:t>
            </a:r>
            <a:r>
              <a:rPr lang="en-ID" dirty="0"/>
              <a:t> PBO</a:t>
            </a:r>
          </a:p>
          <a:p>
            <a:r>
              <a:rPr lang="en-ID" dirty="0"/>
              <a:t>Constructor </a:t>
            </a:r>
            <a:r>
              <a:rPr lang="en-ID" dirty="0" err="1"/>
              <a:t>digunakan</a:t>
            </a:r>
            <a:r>
              <a:rPr lang="en-ID" dirty="0"/>
              <a:t> agar object </a:t>
            </a:r>
            <a:r>
              <a:rPr lang="en-ID" dirty="0" err="1"/>
              <a:t>lahir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kondisi</a:t>
            </a:r>
            <a:r>
              <a:rPr lang="en-ID" dirty="0"/>
              <a:t> </a:t>
            </a:r>
            <a:r>
              <a:rPr lang="en-ID" dirty="0" err="1"/>
              <a:t>siap</a:t>
            </a:r>
            <a:r>
              <a:rPr lang="en-ID" dirty="0"/>
              <a:t> </a:t>
            </a:r>
            <a:r>
              <a:rPr lang="en-ID" dirty="0" err="1"/>
              <a:t>pakai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510746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AABA1-34AF-8128-EBAA-FD32C85BC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53665-6E77-DBD4-C856-EFD1A0DE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Constructor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B4E71-D8DC-5B9C-9278-81C4DA0995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71872" cy="4023360"/>
          </a:xfrm>
        </p:spPr>
        <p:txBody>
          <a:bodyPr>
            <a:normAutofit/>
          </a:bodyPr>
          <a:lstStyle/>
          <a:p>
            <a:r>
              <a:rPr lang="en-ID" dirty="0"/>
              <a:t>class </a:t>
            </a:r>
            <a:r>
              <a:rPr lang="en-ID" dirty="0" err="1"/>
              <a:t>Siswa</a:t>
            </a:r>
            <a:r>
              <a:rPr lang="en-ID" dirty="0"/>
              <a:t> {</a:t>
            </a:r>
          </a:p>
          <a:p>
            <a:r>
              <a:rPr lang="en-ID" dirty="0"/>
              <a:t>    String nama;</a:t>
            </a:r>
          </a:p>
          <a:p>
            <a:r>
              <a:rPr lang="en-ID" dirty="0"/>
              <a:t>    String nis;</a:t>
            </a:r>
          </a:p>
          <a:p>
            <a:endParaRPr lang="en-ID" dirty="0"/>
          </a:p>
          <a:p>
            <a:r>
              <a:rPr lang="en-ID" dirty="0"/>
              <a:t>    </a:t>
            </a:r>
            <a:r>
              <a:rPr lang="en-ID" dirty="0" err="1"/>
              <a:t>Siswa</a:t>
            </a:r>
            <a:r>
              <a:rPr lang="en-ID" dirty="0"/>
              <a:t>(String nama, String nis) {</a:t>
            </a:r>
          </a:p>
          <a:p>
            <a:r>
              <a:rPr lang="en-ID" dirty="0"/>
              <a:t>        </a:t>
            </a:r>
            <a:r>
              <a:rPr lang="en-ID" dirty="0" err="1"/>
              <a:t>this.nama</a:t>
            </a:r>
            <a:r>
              <a:rPr lang="en-ID" dirty="0"/>
              <a:t> = nama;</a:t>
            </a:r>
          </a:p>
          <a:p>
            <a:r>
              <a:rPr lang="en-ID" dirty="0"/>
              <a:t>        </a:t>
            </a:r>
            <a:r>
              <a:rPr lang="en-ID" dirty="0" err="1"/>
              <a:t>this.nis</a:t>
            </a:r>
            <a:r>
              <a:rPr lang="en-ID" dirty="0"/>
              <a:t> = nis;</a:t>
            </a:r>
          </a:p>
          <a:p>
            <a:r>
              <a:rPr lang="en-ID" dirty="0"/>
              <a:t>    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8225FCE-3099-2CAE-F4D6-0E4CF2A670D7}"/>
              </a:ext>
            </a:extLst>
          </p:cNvPr>
          <p:cNvSpPr txBox="1">
            <a:spLocks/>
          </p:cNvSpPr>
          <p:nvPr/>
        </p:nvSpPr>
        <p:spPr>
          <a:xfrm>
            <a:off x="6095999" y="2286000"/>
            <a:ext cx="507187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/>
              <a:t>    void </a:t>
            </a:r>
            <a:r>
              <a:rPr lang="en-ID" dirty="0" err="1"/>
              <a:t>tampilData</a:t>
            </a:r>
            <a:r>
              <a:rPr lang="en-ID" dirty="0"/>
              <a:t>() 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(nama + " - " + nis);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53483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90A1-3F46-0B0C-7F1D-3A531FA49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1F45B-78F9-3CFB-A840-7F5BD7CD0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Nilai 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boleh</a:t>
            </a:r>
            <a:r>
              <a:rPr lang="en-ID" dirty="0"/>
              <a:t> </a:t>
            </a:r>
            <a:r>
              <a:rPr lang="en-ID" dirty="0" err="1"/>
              <a:t>diubah</a:t>
            </a:r>
            <a:r>
              <a:rPr lang="en-ID" dirty="0"/>
              <a:t> </a:t>
            </a:r>
            <a:r>
              <a:rPr lang="en-ID" dirty="0" err="1"/>
              <a:t>sembarangan</a:t>
            </a:r>
            <a:r>
              <a:rPr lang="en-ID" dirty="0"/>
              <a:t>, </a:t>
            </a:r>
            <a:r>
              <a:rPr lang="en-ID" dirty="0" err="1"/>
              <a:t>harus</a:t>
            </a:r>
            <a:r>
              <a:rPr lang="en-ID" dirty="0"/>
              <a:t> </a:t>
            </a:r>
            <a:r>
              <a:rPr lang="en-ID" dirty="0" err="1"/>
              <a:t>lewat</a:t>
            </a:r>
            <a:r>
              <a:rPr lang="en-ID" dirty="0"/>
              <a:t> guru.</a:t>
            </a:r>
          </a:p>
        </p:txBody>
      </p:sp>
    </p:spTree>
    <p:extLst>
      <p:ext uri="{BB962C8B-B14F-4D97-AF65-F5344CB8AC3E}">
        <p14:creationId xmlns:p14="http://schemas.microsoft.com/office/powerpoint/2010/main" val="10454799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3D735-B1DB-DACC-C9BD-A6F29E840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8FC97-7325-2480-E1C5-F3F4FA6A2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DE351-9C2E-24E4-02D2-BF0BDA447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Konsep PBO</a:t>
            </a:r>
          </a:p>
          <a:p>
            <a:pPr marL="457200" indent="-457200">
              <a:buFont typeface="+mj-lt"/>
              <a:buAutoNum type="arabicPeriod"/>
            </a:pPr>
            <a:r>
              <a:rPr lang="nb-NO" dirty="0"/>
              <a:t>Data dibuat private</a:t>
            </a:r>
          </a:p>
          <a:p>
            <a:pPr marL="457200" indent="-457200">
              <a:buFont typeface="+mj-lt"/>
              <a:buAutoNum type="arabicPeriod"/>
            </a:pPr>
            <a:r>
              <a:rPr lang="nb-NO" dirty="0"/>
              <a:t>Akses melalui getter &amp; setter</a:t>
            </a:r>
          </a:p>
        </p:txBody>
      </p:sp>
    </p:spTree>
    <p:extLst>
      <p:ext uri="{BB962C8B-B14F-4D97-AF65-F5344CB8AC3E}">
        <p14:creationId xmlns:p14="http://schemas.microsoft.com/office/powerpoint/2010/main" val="746609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A2431-5F2E-A804-CC39-3ABF4A33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9A1A2-381E-FC15-0685-EA57E29F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Encapsulation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77D83-6A27-3F00-B5E2-B6E2F35B9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71872" cy="4023360"/>
          </a:xfrm>
        </p:spPr>
        <p:txBody>
          <a:bodyPr>
            <a:normAutofit/>
          </a:bodyPr>
          <a:lstStyle/>
          <a:p>
            <a:r>
              <a:rPr lang="nb-NO" dirty="0"/>
              <a:t>class Siswa {</a:t>
            </a:r>
          </a:p>
          <a:p>
            <a:r>
              <a:rPr lang="nb-NO" dirty="0"/>
              <a:t>    private int nilai;</a:t>
            </a:r>
          </a:p>
          <a:p>
            <a:endParaRPr lang="nb-NO" dirty="0"/>
          </a:p>
          <a:p>
            <a:r>
              <a:rPr lang="nb-NO" dirty="0"/>
              <a:t>    public void setNilai(int nilai) {</a:t>
            </a:r>
          </a:p>
          <a:p>
            <a:r>
              <a:rPr lang="nb-NO" dirty="0"/>
              <a:t>        if (nilai &gt;= 0 &amp;&amp; nilai &lt;= 100) {</a:t>
            </a:r>
          </a:p>
          <a:p>
            <a:r>
              <a:rPr lang="nb-NO" dirty="0"/>
              <a:t>            this.nilai = nilai;</a:t>
            </a:r>
          </a:p>
          <a:p>
            <a:r>
              <a:rPr lang="nb-NO" dirty="0"/>
              <a:t>        }</a:t>
            </a:r>
          </a:p>
          <a:p>
            <a:r>
              <a:rPr lang="nb-NO" dirty="0"/>
              <a:t>    }</a:t>
            </a:r>
          </a:p>
          <a:p>
            <a:endParaRPr lang="nb-NO" dirty="0"/>
          </a:p>
          <a:p>
            <a:endParaRPr lang="nb-NO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DEF460-FB29-A658-3E58-103A828DA52F}"/>
              </a:ext>
            </a:extLst>
          </p:cNvPr>
          <p:cNvSpPr txBox="1">
            <a:spLocks/>
          </p:cNvSpPr>
          <p:nvPr/>
        </p:nvSpPr>
        <p:spPr>
          <a:xfrm>
            <a:off x="5884164" y="2286000"/>
            <a:ext cx="507187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b-NO" dirty="0"/>
              <a:t>    public int getNilai() {</a:t>
            </a:r>
          </a:p>
          <a:p>
            <a:r>
              <a:rPr lang="nb-NO" dirty="0"/>
              <a:t>        return nilai;</a:t>
            </a:r>
          </a:p>
          <a:p>
            <a:r>
              <a:rPr lang="nb-NO" dirty="0"/>
              <a:t>    }</a:t>
            </a:r>
          </a:p>
          <a:p>
            <a:r>
              <a:rPr lang="nb-NO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4432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E85B-5C3A-69C1-D303-B07296258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592CC3-A155-ED1E-8308-2E183501F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warga</a:t>
            </a:r>
            <a:r>
              <a:rPr lang="en-ID" dirty="0"/>
              <a:t> </a:t>
            </a:r>
            <a:r>
              <a:rPr lang="en-ID" dirty="0" err="1"/>
              <a:t>sekolah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Orang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Siswa</a:t>
            </a:r>
            <a:r>
              <a:rPr lang="en-ID" dirty="0"/>
              <a:t> dan Guru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turunan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Orang</a:t>
            </a:r>
          </a:p>
        </p:txBody>
      </p:sp>
    </p:spTree>
    <p:extLst>
      <p:ext uri="{BB962C8B-B14F-4D97-AF65-F5344CB8AC3E}">
        <p14:creationId xmlns:p14="http://schemas.microsoft.com/office/powerpoint/2010/main" val="28315185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27552-1B6F-A8E8-69D5-00E268F1B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4D4A6-421E-3731-A761-7961C1405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55C3C-6B11-F84F-2564-5B89E605F1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Konsep</a:t>
            </a:r>
            <a:r>
              <a:rPr lang="en-ID" dirty="0"/>
              <a:t> PBO</a:t>
            </a:r>
          </a:p>
          <a:p>
            <a:r>
              <a:rPr lang="en-ID" dirty="0"/>
              <a:t>Sifat </a:t>
            </a:r>
            <a:r>
              <a:rPr lang="en-ID" dirty="0" err="1"/>
              <a:t>umum</a:t>
            </a:r>
            <a:r>
              <a:rPr lang="en-ID" dirty="0"/>
              <a:t> </a:t>
            </a:r>
            <a:r>
              <a:rPr lang="en-ID" dirty="0" err="1"/>
              <a:t>diletakkan</a:t>
            </a:r>
            <a:r>
              <a:rPr lang="en-ID" dirty="0"/>
              <a:t> di class </a:t>
            </a:r>
            <a:r>
              <a:rPr lang="en-ID" dirty="0" err="1"/>
              <a:t>induk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941461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AC33E-1563-431F-E5BE-C34C6CD63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DC1F-4C91-74B2-16D9-B7BB9E624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BCCCC0-3388-6D9A-E16B-3BE498BF5E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D" dirty="0"/>
              <a:t>class Orang {</a:t>
            </a:r>
          </a:p>
          <a:p>
            <a:r>
              <a:rPr lang="en-ID" dirty="0"/>
              <a:t>    String nama;</a:t>
            </a:r>
          </a:p>
          <a:p>
            <a:endParaRPr lang="en-ID" dirty="0"/>
          </a:p>
          <a:p>
            <a:r>
              <a:rPr lang="en-ID" dirty="0"/>
              <a:t>    void </a:t>
            </a:r>
            <a:r>
              <a:rPr lang="en-ID" dirty="0" err="1"/>
              <a:t>tampilNama</a:t>
            </a:r>
            <a:r>
              <a:rPr lang="en-ID" dirty="0"/>
              <a:t>() 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("Nama: " + nama);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  <a:p>
            <a:endParaRPr lang="en-ID" dirty="0"/>
          </a:p>
          <a:p>
            <a:r>
              <a:rPr lang="en-ID" dirty="0"/>
              <a:t>class </a:t>
            </a:r>
            <a:r>
              <a:rPr lang="en-ID" dirty="0" err="1"/>
              <a:t>Siswa</a:t>
            </a:r>
            <a:r>
              <a:rPr lang="en-ID" dirty="0"/>
              <a:t> extends Orang {</a:t>
            </a:r>
          </a:p>
          <a:p>
            <a:r>
              <a:rPr lang="en-ID" dirty="0"/>
              <a:t>    String </a:t>
            </a:r>
            <a:r>
              <a:rPr lang="en-ID" dirty="0" err="1"/>
              <a:t>jurusan</a:t>
            </a:r>
            <a:r>
              <a:rPr lang="en-ID" dirty="0"/>
              <a:t>;</a:t>
            </a:r>
          </a:p>
          <a:p>
            <a:r>
              <a:rPr lang="en-ID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835586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C614A-E151-9D18-49E4-87B01C3AC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26A8E-B9A8-5347-07BC-4C1B71B1E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Perintah</a:t>
            </a:r>
            <a:r>
              <a:rPr lang="en-ID" dirty="0"/>
              <a:t> </a:t>
            </a:r>
            <a:r>
              <a:rPr lang="en-ID" dirty="0" err="1"/>
              <a:t>absen</a:t>
            </a:r>
            <a:r>
              <a:rPr lang="en-ID" dirty="0"/>
              <a:t>():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Pada </a:t>
            </a:r>
            <a:r>
              <a:rPr lang="en-ID" dirty="0" err="1"/>
              <a:t>siswa</a:t>
            </a:r>
            <a:r>
              <a:rPr lang="en-ID" dirty="0"/>
              <a:t> = </a:t>
            </a:r>
            <a:r>
              <a:rPr lang="en-ID" dirty="0" err="1"/>
              <a:t>hadir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Pada guru = </a:t>
            </a:r>
            <a:r>
              <a:rPr lang="en-ID" dirty="0" err="1"/>
              <a:t>mengajar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372381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67759-3DD0-4DCF-9E3F-74DFD53B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1DDCF-AA78-E328-5E41-7169EBB67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298BC7-7848-9217-1EEA-1898F12D9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Konsep</a:t>
            </a:r>
            <a:r>
              <a:rPr lang="en-ID" dirty="0"/>
              <a:t> PBO</a:t>
            </a:r>
          </a:p>
          <a:p>
            <a:r>
              <a:rPr lang="en-ID" dirty="0"/>
              <a:t>Method </a:t>
            </a:r>
            <a:r>
              <a:rPr lang="en-ID" dirty="0" err="1"/>
              <a:t>sama</a:t>
            </a:r>
            <a:r>
              <a:rPr lang="en-ID" dirty="0"/>
              <a:t>, </a:t>
            </a:r>
            <a:r>
              <a:rPr lang="en-ID" dirty="0" err="1"/>
              <a:t>perilaku</a:t>
            </a:r>
            <a:r>
              <a:rPr lang="en-ID" dirty="0"/>
              <a:t> </a:t>
            </a:r>
            <a:r>
              <a:rPr lang="en-ID" dirty="0" err="1"/>
              <a:t>berbeda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2955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5F13D-4361-4F2A-D514-AAB502B0B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321CB-E468-D259-0A10-CBD185993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Polymorphism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B1E59-47B6-F9D9-4469-030E82E5C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71872" cy="4023360"/>
          </a:xfrm>
        </p:spPr>
        <p:txBody>
          <a:bodyPr>
            <a:normAutofit fontScale="70000" lnSpcReduction="20000"/>
          </a:bodyPr>
          <a:lstStyle/>
          <a:p>
            <a:r>
              <a:rPr lang="en-ID" dirty="0"/>
              <a:t>class Orang {</a:t>
            </a:r>
          </a:p>
          <a:p>
            <a:r>
              <a:rPr lang="en-ID" dirty="0"/>
              <a:t>    void </a:t>
            </a:r>
            <a:r>
              <a:rPr lang="en-ID" dirty="0" err="1"/>
              <a:t>absen</a:t>
            </a:r>
            <a:r>
              <a:rPr lang="en-ID" dirty="0"/>
              <a:t>() 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absensi</a:t>
            </a:r>
            <a:r>
              <a:rPr lang="en-ID" dirty="0"/>
              <a:t>");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  <a:p>
            <a:endParaRPr lang="en-ID" dirty="0"/>
          </a:p>
          <a:p>
            <a:r>
              <a:rPr lang="en-ID" dirty="0"/>
              <a:t>class </a:t>
            </a:r>
            <a:r>
              <a:rPr lang="en-ID" dirty="0" err="1"/>
              <a:t>Siswa</a:t>
            </a:r>
            <a:r>
              <a:rPr lang="en-ID" dirty="0"/>
              <a:t> extends Orang {</a:t>
            </a:r>
          </a:p>
          <a:p>
            <a:r>
              <a:rPr lang="en-ID" dirty="0"/>
              <a:t>    @Override</a:t>
            </a:r>
          </a:p>
          <a:p>
            <a:r>
              <a:rPr lang="en-ID" dirty="0"/>
              <a:t>    void </a:t>
            </a:r>
            <a:r>
              <a:rPr lang="en-ID" dirty="0" err="1"/>
              <a:t>absen</a:t>
            </a:r>
            <a:r>
              <a:rPr lang="en-ID" dirty="0"/>
              <a:t>() 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</a:t>
            </a:r>
            <a:r>
              <a:rPr lang="en-ID" dirty="0" err="1"/>
              <a:t>Siswa</a:t>
            </a:r>
            <a:r>
              <a:rPr lang="en-ID" dirty="0"/>
              <a:t> </a:t>
            </a:r>
            <a:r>
              <a:rPr lang="en-ID" dirty="0" err="1"/>
              <a:t>hadir</a:t>
            </a:r>
            <a:r>
              <a:rPr lang="en-ID" dirty="0"/>
              <a:t> di </a:t>
            </a:r>
            <a:r>
              <a:rPr lang="en-ID" dirty="0" err="1"/>
              <a:t>kelas</a:t>
            </a:r>
            <a:r>
              <a:rPr lang="en-ID" dirty="0"/>
              <a:t>");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FAB9B2-D17A-418D-A711-90647EE3E523}"/>
              </a:ext>
            </a:extLst>
          </p:cNvPr>
          <p:cNvSpPr txBox="1">
            <a:spLocks/>
          </p:cNvSpPr>
          <p:nvPr/>
        </p:nvSpPr>
        <p:spPr>
          <a:xfrm>
            <a:off x="6096000" y="2286000"/>
            <a:ext cx="507187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/>
              <a:t>class Guru extends Orang {</a:t>
            </a:r>
          </a:p>
          <a:p>
            <a:r>
              <a:rPr lang="en-ID" dirty="0"/>
              <a:t>    @Override</a:t>
            </a:r>
          </a:p>
          <a:p>
            <a:r>
              <a:rPr lang="en-ID" dirty="0"/>
              <a:t>    void </a:t>
            </a:r>
            <a:r>
              <a:rPr lang="en-ID" dirty="0" err="1"/>
              <a:t>absen</a:t>
            </a:r>
            <a:r>
              <a:rPr lang="en-ID" dirty="0"/>
              <a:t>() 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("Guru </a:t>
            </a:r>
            <a:r>
              <a:rPr lang="en-ID" dirty="0" err="1"/>
              <a:t>mengajar</a:t>
            </a:r>
            <a:r>
              <a:rPr lang="en-ID" dirty="0"/>
              <a:t>");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84919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15512-C570-B30C-C1D9-0D3E45D5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AE1D27-1981-05DA-B412-615D9B4EC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Mesin ATM: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Semua ATM bisa tarik tunai</a:t>
            </a:r>
          </a:p>
          <a:p>
            <a:pPr marL="457200" indent="-457200">
              <a:buFont typeface="+mj-lt"/>
              <a:buAutoNum type="arabicPeriod"/>
            </a:pPr>
            <a:r>
              <a:rPr lang="sv-SE" dirty="0"/>
              <a:t>Cara kerjanya berbeda tiap bank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68010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29E08-19A3-0128-2A39-519952C7F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E7E97-8C1F-60F6-9B52-BB014A585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73348-0AAB-30CA-72D5-5A017863F7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Konsep</a:t>
            </a:r>
            <a:r>
              <a:rPr lang="en-ID" dirty="0"/>
              <a:t> PBO</a:t>
            </a:r>
          </a:p>
          <a:p>
            <a:r>
              <a:rPr lang="en-ID" dirty="0"/>
              <a:t>Yang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fungsi</a:t>
            </a:r>
            <a:r>
              <a:rPr lang="en-ID" dirty="0"/>
              <a:t>, </a:t>
            </a:r>
            <a:r>
              <a:rPr lang="en-ID" dirty="0" err="1"/>
              <a:t>bukan</a:t>
            </a:r>
            <a:r>
              <a:rPr lang="en-ID" dirty="0"/>
              <a:t> detail </a:t>
            </a:r>
            <a:r>
              <a:rPr lang="en-ID" dirty="0" err="1"/>
              <a:t>cara</a:t>
            </a:r>
            <a:r>
              <a:rPr lang="en-ID" dirty="0"/>
              <a:t> </a:t>
            </a:r>
            <a:r>
              <a:rPr lang="en-ID" dirty="0" err="1"/>
              <a:t>kerja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0802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A09D07-D6E2-F6DD-8FA9-8DF2CA6A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3CA3D-169F-4058-E647-C69C32234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A06DA-180C-0DA4-F911-9469089F57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71872" cy="4023360"/>
          </a:xfrm>
        </p:spPr>
        <p:txBody>
          <a:bodyPr>
            <a:normAutofit fontScale="92500" lnSpcReduction="10000"/>
          </a:bodyPr>
          <a:lstStyle/>
          <a:p>
            <a:r>
              <a:rPr lang="en-ID" dirty="0"/>
              <a:t>abstract class ATM {</a:t>
            </a:r>
          </a:p>
          <a:p>
            <a:r>
              <a:rPr lang="en-ID" dirty="0"/>
              <a:t>    abstract void </a:t>
            </a:r>
            <a:r>
              <a:rPr lang="en-ID" dirty="0" err="1"/>
              <a:t>tarikTunai</a:t>
            </a:r>
            <a:r>
              <a:rPr lang="en-ID" dirty="0"/>
              <a:t>();</a:t>
            </a:r>
          </a:p>
          <a:p>
            <a:r>
              <a:rPr lang="en-ID" dirty="0"/>
              <a:t>}</a:t>
            </a:r>
          </a:p>
          <a:p>
            <a:endParaRPr lang="en-ID" dirty="0"/>
          </a:p>
          <a:p>
            <a:r>
              <a:rPr lang="en-ID" dirty="0"/>
              <a:t>class ATM_BCA extends ATM {</a:t>
            </a:r>
          </a:p>
          <a:p>
            <a:r>
              <a:rPr lang="en-ID" dirty="0"/>
              <a:t>    void </a:t>
            </a:r>
            <a:r>
              <a:rPr lang="en-ID" dirty="0" err="1"/>
              <a:t>tarikTunai</a:t>
            </a:r>
            <a:r>
              <a:rPr lang="en-ID" dirty="0"/>
              <a:t>() 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("Tarik </a:t>
            </a:r>
            <a:r>
              <a:rPr lang="en-ID" dirty="0" err="1"/>
              <a:t>tunai</a:t>
            </a:r>
            <a:r>
              <a:rPr lang="en-ID" dirty="0"/>
              <a:t> via ATM BCA");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  <a:p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2491B6-62E3-0077-DA0C-3E7D1375ECDE}"/>
              </a:ext>
            </a:extLst>
          </p:cNvPr>
          <p:cNvSpPr txBox="1">
            <a:spLocks/>
          </p:cNvSpPr>
          <p:nvPr/>
        </p:nvSpPr>
        <p:spPr>
          <a:xfrm>
            <a:off x="5884164" y="2249424"/>
            <a:ext cx="507187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/>
              <a:t>class ATM_BRI extends ATM {</a:t>
            </a:r>
          </a:p>
          <a:p>
            <a:r>
              <a:rPr lang="en-ID" dirty="0"/>
              <a:t>    void </a:t>
            </a:r>
            <a:r>
              <a:rPr lang="en-ID" dirty="0" err="1"/>
              <a:t>tarikTunai</a:t>
            </a:r>
            <a:r>
              <a:rPr lang="en-ID" dirty="0"/>
              <a:t>() 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("Tarik </a:t>
            </a:r>
            <a:r>
              <a:rPr lang="en-ID" dirty="0" err="1"/>
              <a:t>tunai</a:t>
            </a:r>
            <a:r>
              <a:rPr lang="en-ID" dirty="0"/>
              <a:t> via ATM BRI");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0695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617D-C640-DEBB-2678-B97EB2E16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2B95F-8A0B-A38F-87CE-F571B9A2F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Semua</a:t>
            </a:r>
            <a:r>
              <a:rPr lang="en-ID" dirty="0"/>
              <a:t> printer: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Bisa print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Cara print </a:t>
            </a:r>
            <a:r>
              <a:rPr lang="en-ID" dirty="0" err="1"/>
              <a:t>berbeda</a:t>
            </a: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24713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0166-B033-EE2D-D251-6BBAE63CB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CBBC-8AC2-6089-54EB-2644A46FA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69A20-5686-D55A-B73D-75AA1ADD4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 err="1"/>
              <a:t>Konsep</a:t>
            </a:r>
            <a:r>
              <a:rPr lang="en-ID" dirty="0"/>
              <a:t> PBO</a:t>
            </a:r>
          </a:p>
          <a:p>
            <a:r>
              <a:rPr lang="en-ID" dirty="0"/>
              <a:t>Interface = </a:t>
            </a:r>
            <a:r>
              <a:rPr lang="en-ID" dirty="0" err="1"/>
              <a:t>kontrak</a:t>
            </a:r>
            <a:r>
              <a:rPr lang="en-ID" dirty="0"/>
              <a:t> </a:t>
            </a:r>
            <a:r>
              <a:rPr lang="en-ID" dirty="0" err="1"/>
              <a:t>perilaku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40808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64EF5-DDBB-4C66-B143-98D0709F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863DE-9196-A77D-6E5A-2793B2EA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Studi Kasus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35E0A-43E9-33B7-0D79-706BE862A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71872" cy="4023360"/>
          </a:xfrm>
        </p:spPr>
        <p:txBody>
          <a:bodyPr>
            <a:normAutofit fontScale="92500"/>
          </a:bodyPr>
          <a:lstStyle/>
          <a:p>
            <a:r>
              <a:rPr lang="en-ID" dirty="0"/>
              <a:t>interface Printer {</a:t>
            </a:r>
          </a:p>
          <a:p>
            <a:r>
              <a:rPr lang="en-ID" dirty="0"/>
              <a:t>    void print();</a:t>
            </a:r>
          </a:p>
          <a:p>
            <a:r>
              <a:rPr lang="en-ID" dirty="0"/>
              <a:t>}</a:t>
            </a:r>
          </a:p>
          <a:p>
            <a:endParaRPr lang="en-ID" dirty="0"/>
          </a:p>
          <a:p>
            <a:r>
              <a:rPr lang="en-ID" dirty="0"/>
              <a:t>class </a:t>
            </a:r>
            <a:r>
              <a:rPr lang="en-ID" dirty="0" err="1"/>
              <a:t>PrinterCanon</a:t>
            </a:r>
            <a:r>
              <a:rPr lang="en-ID" dirty="0"/>
              <a:t> implements Printer {</a:t>
            </a:r>
          </a:p>
          <a:p>
            <a:r>
              <a:rPr lang="en-ID" dirty="0"/>
              <a:t>    public void print() 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("Print </a:t>
            </a:r>
            <a:r>
              <a:rPr lang="en-ID" dirty="0" err="1"/>
              <a:t>dengan</a:t>
            </a:r>
            <a:r>
              <a:rPr lang="en-ID" dirty="0"/>
              <a:t> Canon");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  <a:p>
            <a:endParaRPr lang="en-ID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FDD75D-2170-7E32-02D8-76673A8FEEC6}"/>
              </a:ext>
            </a:extLst>
          </p:cNvPr>
          <p:cNvSpPr txBox="1">
            <a:spLocks/>
          </p:cNvSpPr>
          <p:nvPr/>
        </p:nvSpPr>
        <p:spPr>
          <a:xfrm>
            <a:off x="5884164" y="2286000"/>
            <a:ext cx="5071872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Char char=" 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517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480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7724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0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060704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216152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362456" indent="-13716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Char char="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D" dirty="0"/>
              <a:t>class </a:t>
            </a:r>
            <a:r>
              <a:rPr lang="en-ID" dirty="0" err="1"/>
              <a:t>PrinterEpson</a:t>
            </a:r>
            <a:r>
              <a:rPr lang="en-ID" dirty="0"/>
              <a:t> implements Printer {</a:t>
            </a:r>
          </a:p>
          <a:p>
            <a:r>
              <a:rPr lang="en-ID" dirty="0"/>
              <a:t>    public void print() {</a:t>
            </a:r>
          </a:p>
          <a:p>
            <a:r>
              <a:rPr lang="en-ID" dirty="0"/>
              <a:t>        </a:t>
            </a:r>
            <a:r>
              <a:rPr lang="en-ID" dirty="0" err="1"/>
              <a:t>System.out.println</a:t>
            </a:r>
            <a:r>
              <a:rPr lang="en-ID" dirty="0"/>
              <a:t>("Print </a:t>
            </a:r>
            <a:r>
              <a:rPr lang="en-ID" dirty="0" err="1"/>
              <a:t>dengan</a:t>
            </a:r>
            <a:r>
              <a:rPr lang="en-ID" dirty="0"/>
              <a:t> Epson");</a:t>
            </a:r>
          </a:p>
          <a:p>
            <a:r>
              <a:rPr lang="en-ID" dirty="0"/>
              <a:t>    }</a:t>
            </a:r>
          </a:p>
          <a:p>
            <a:r>
              <a:rPr lang="en-ID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0098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51A4-EC9E-00BD-A2CA-494930FDE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Terima</a:t>
            </a:r>
            <a:r>
              <a:rPr lang="en-US" dirty="0"/>
              <a:t> </a:t>
            </a:r>
            <a:r>
              <a:rPr lang="en-US" dirty="0" err="1"/>
              <a:t>kasih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56611358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60</TotalTime>
  <Words>726</Words>
  <Application>Microsoft Office PowerPoint</Application>
  <PresentationFormat>Widescreen</PresentationFormat>
  <Paragraphs>163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Tw Cen MT</vt:lpstr>
      <vt:lpstr>Tw Cen MT Condensed</vt:lpstr>
      <vt:lpstr>Wingdings 3</vt:lpstr>
      <vt:lpstr>Integral</vt:lpstr>
      <vt:lpstr>Studi Kasus Pemrograman Berorientasi Objek</vt:lpstr>
      <vt:lpstr>Studi Kasus Class dan Object</vt:lpstr>
      <vt:lpstr>Studi Kasus Class dan Object</vt:lpstr>
      <vt:lpstr>Studi Kasus Class dan Object</vt:lpstr>
      <vt:lpstr>Studi Kasus Constructor</vt:lpstr>
      <vt:lpstr>Studi Kasus Constructor</vt:lpstr>
      <vt:lpstr>Studi Kasus Constructor</vt:lpstr>
      <vt:lpstr>Studi Kasus Encapsulation</vt:lpstr>
      <vt:lpstr>Studi Kasus Encapsulation</vt:lpstr>
      <vt:lpstr>Studi Kasus Encapsulation</vt:lpstr>
      <vt:lpstr>Studi Kasus Inheritance</vt:lpstr>
      <vt:lpstr>Studi Kasus Inheritance</vt:lpstr>
      <vt:lpstr>Studi Kasus Inheritance</vt:lpstr>
      <vt:lpstr>Studi Kasus Polymorphism</vt:lpstr>
      <vt:lpstr>Studi Kasus Polymorphism</vt:lpstr>
      <vt:lpstr>Studi Kasus Polymorphism</vt:lpstr>
      <vt:lpstr>Studi Kasus Abstraction</vt:lpstr>
      <vt:lpstr>Studi Kasus Abstraction</vt:lpstr>
      <vt:lpstr>Studi Kasus Abstraction</vt:lpstr>
      <vt:lpstr>Studi Kasus Interface</vt:lpstr>
      <vt:lpstr>Studi Kasus Interface</vt:lpstr>
      <vt:lpstr>Studi Kasus Interface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NURI SUTIYANINGSIH</dc:creator>
  <cp:lastModifiedBy>NURI SUTIYANINGSIH</cp:lastModifiedBy>
  <cp:revision>3</cp:revision>
  <dcterms:created xsi:type="dcterms:W3CDTF">2026-01-29T03:12:30Z</dcterms:created>
  <dcterms:modified xsi:type="dcterms:W3CDTF">2026-05-07T13:32:30Z</dcterms:modified>
</cp:coreProperties>
</file>